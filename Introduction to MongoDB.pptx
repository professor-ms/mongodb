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2" r:id="rId15"/>
    <p:sldId id="270" r:id="rId16"/>
    <p:sldId id="271" r:id="rId17"/>
    <p:sldId id="273" r:id="rId18"/>
    <p:sldId id="274" r:id="rId19"/>
    <p:sldId id="276" r:id="rId20"/>
    <p:sldId id="275" r:id="rId21"/>
    <p:sldId id="277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FF72"/>
    <a:srgbClr val="22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2578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351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500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481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376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087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867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837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165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921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980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7B7C8-5C4F-4B28-B824-7A7E5541634E}" type="datetimeFigureOut">
              <a:rPr lang="en-PK" smtClean="0"/>
              <a:t>10/01/2026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EB7A-6368-40B7-AC01-9C117C5678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662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4CCC-3CD0-4AE3-9FB5-2C0E3C060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Helvetica" pitchFamily="2" charset="0"/>
              </a:rPr>
              <a:t>Introduction to MongoDB</a:t>
            </a:r>
            <a:endParaRPr lang="en-PK" sz="4800" b="1" dirty="0">
              <a:latin typeface="Helvetica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37C29-EF61-4E9F-AAE7-FC3CE443B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9109"/>
            <a:ext cx="9144000" cy="1655762"/>
          </a:xfrm>
        </p:spPr>
        <p:txBody>
          <a:bodyPr/>
          <a:lstStyle/>
          <a:p>
            <a:r>
              <a:rPr lang="en-US" dirty="0"/>
              <a:t>Muhammad Salman</a:t>
            </a:r>
          </a:p>
          <a:p>
            <a:r>
              <a:rPr lang="en-US" dirty="0"/>
              <a:t>Adm #: 1640</a:t>
            </a:r>
          </a:p>
          <a:p>
            <a:r>
              <a:rPr lang="en-US" dirty="0"/>
              <a:t>Semester: 5</a:t>
            </a:r>
            <a:r>
              <a:rPr lang="en-US" baseline="30000" dirty="0"/>
              <a:t>th</a:t>
            </a:r>
            <a:r>
              <a:rPr lang="en-US" dirty="0"/>
              <a:t> CS Morning</a:t>
            </a:r>
            <a:endParaRPr lang="en-P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E5646F4-B0E9-4BAE-ADFE-29652C4DD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5114" y="2650034"/>
            <a:ext cx="827028" cy="84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2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6203-8276-4FD9-91B2-D9366435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What is MongoDB?</a:t>
            </a:r>
            <a:endParaRPr lang="en-PK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503C0-A9E8-4BD4-850A-BB4BCB0C7F8F}"/>
              </a:ext>
            </a:extLst>
          </p:cNvPr>
          <p:cNvSpPr txBox="1"/>
          <p:nvPr/>
        </p:nvSpPr>
        <p:spPr>
          <a:xfrm>
            <a:off x="679622" y="1495168"/>
            <a:ext cx="1013254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MongoDB is a NoSQL, document-oriented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Stores data as JSON format (JavaScript Object Notation).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Not like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Handles large, unstructured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9FF72"/>
                </a:solidFill>
              </a:rPr>
              <a:t>Terminology: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Database</a:t>
            </a:r>
            <a:r>
              <a:rPr lang="en-US" sz="2800" dirty="0"/>
              <a:t> – Container for collections.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Collection</a:t>
            </a:r>
            <a:r>
              <a:rPr lang="en-US" sz="2800" dirty="0"/>
              <a:t> – Group of documents (Just like table in SQL)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Document</a:t>
            </a:r>
            <a:r>
              <a:rPr lang="en-US" sz="2800" dirty="0"/>
              <a:t> – Individual record, stores fields &amp; valu</a:t>
            </a:r>
            <a:r>
              <a:rPr lang="en-US" sz="3200" dirty="0"/>
              <a:t>es. </a:t>
            </a:r>
            <a:r>
              <a:rPr lang="en-US" sz="2800" dirty="0"/>
              <a:t>(Like record or row in SQL)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42822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338C-52FE-4277-B592-3969CB63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JSON</a:t>
            </a:r>
            <a:endParaRPr lang="en-PK" b="1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A07D-B11B-4807-9AB9-46A996674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838" y="1899766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_id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ObjectId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("123"),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“Ali"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24,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GPA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3.2</a:t>
            </a:r>
          </a:p>
          <a:p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PK" dirty="0">
              <a:solidFill>
                <a:srgbClr val="00B0F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0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8FF8-636E-4831-B7C6-3CD5986C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Basic commands</a:t>
            </a:r>
            <a:endParaRPr lang="en-PK" b="1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8EBC0-5986-4F79-A3B7-AFF9997AA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9600" cy="43513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show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	   </a:t>
            </a:r>
            <a:r>
              <a:rPr lang="en-US" sz="1800" i="1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List databases</a:t>
            </a:r>
          </a:p>
          <a:p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database_name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sz="1800" i="1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Select database</a:t>
            </a:r>
          </a:p>
          <a:p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show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collections     </a:t>
            </a:r>
            <a:r>
              <a:rPr lang="en-US" sz="1800" i="1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List collections</a:t>
            </a:r>
          </a:p>
          <a:p>
            <a:r>
              <a:rPr lang="en-US" sz="2500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</a:t>
            </a:r>
            <a:r>
              <a:rPr lang="en-US" sz="25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2500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createCollection</a:t>
            </a:r>
            <a:r>
              <a:rPr lang="en-US" sz="2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(“Students”) </a:t>
            </a:r>
            <a:r>
              <a:rPr lang="en-US" sz="1800" i="1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#collection on name Students</a:t>
            </a:r>
            <a:endParaRPr lang="en-US" sz="2000" i="1" dirty="0">
              <a:solidFill>
                <a:srgbClr val="92D05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</a:t>
            </a:r>
            <a:r>
              <a:rPr lang="en-US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 </a:t>
            </a:r>
            <a:r>
              <a:rPr lang="en-US" sz="1800" i="1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#show current database</a:t>
            </a:r>
            <a:endParaRPr lang="en-PK" sz="2000" i="1" dirty="0">
              <a:solidFill>
                <a:srgbClr val="92D05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29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A3CE-71F3-4B17-A176-9E932E78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  <a:latin typeface="Helvetica" pitchFamily="2" charset="0"/>
              </a:rPr>
              <a:t>C</a:t>
            </a:r>
            <a:r>
              <a:rPr lang="en-US" b="1" dirty="0">
                <a:latin typeface="Helvetica" pitchFamily="2" charset="0"/>
              </a:rPr>
              <a:t>RUD Operations</a:t>
            </a:r>
            <a:endParaRPr lang="en-PK" b="1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0FDF-C538-450E-AC18-201399AB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4400" cy="4351338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</a:rPr>
              <a:t>CREATE</a:t>
            </a:r>
            <a:endParaRPr lang="en-US" b="1" dirty="0">
              <a:solidFill>
                <a:srgbClr val="00B0F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insertOne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/>
              <a:t>	– Insert a single document.</a:t>
            </a:r>
          </a:p>
          <a:p>
            <a:r>
              <a:rPr lang="en-US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insertMany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/>
              <a:t>	– Insert multiple documents.</a:t>
            </a:r>
          </a:p>
          <a:p>
            <a:endParaRPr lang="en-US" dirty="0"/>
          </a:p>
          <a:p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i="1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insertOne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2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name:</a:t>
            </a:r>
            <a:r>
              <a:rPr lang="en-US" sz="2400" dirty="0" err="1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“Ahmad</a:t>
            </a:r>
            <a:r>
              <a:rPr lang="en-US" sz="2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age:</a:t>
            </a:r>
            <a:r>
              <a:rPr lang="en-US" sz="2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GPA:</a:t>
            </a:r>
            <a:r>
              <a:rPr lang="en-US" sz="2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3.2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2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sz="2400" i="1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insertMany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2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US" sz="2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802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C815-2347-4159-9AC1-C4354064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C</a:t>
            </a:r>
            <a:r>
              <a:rPr lang="en-US" b="1" dirty="0">
                <a:solidFill>
                  <a:srgbClr val="FFC000"/>
                </a:solidFill>
                <a:latin typeface="Helvetica" pitchFamily="2" charset="0"/>
              </a:rPr>
              <a:t>R</a:t>
            </a:r>
            <a:r>
              <a:rPr lang="en-US" b="1" dirty="0">
                <a:latin typeface="Helvetica" pitchFamily="2" charset="0"/>
              </a:rPr>
              <a:t>UD continue…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ED272-A0C3-450D-A4D7-8D14D4016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  <a:latin typeface="Helvetica" pitchFamily="2" charset="0"/>
              </a:rPr>
              <a:t>READ</a:t>
            </a:r>
          </a:p>
          <a:p>
            <a:r>
              <a:rPr lang="en-US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find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</a:t>
            </a:r>
            <a:r>
              <a:rPr lang="en-US" dirty="0"/>
              <a:t>– Query documents.</a:t>
            </a:r>
          </a:p>
          <a:p>
            <a:r>
              <a:rPr lang="en-US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findOne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dirty="0"/>
              <a:t>– Return single document.</a:t>
            </a:r>
          </a:p>
          <a:p>
            <a:endParaRPr lang="en-US" dirty="0"/>
          </a:p>
          <a:p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i="1" dirty="0" err="1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find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787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3CD3-FDCF-470F-8617-F2275596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CR</a:t>
            </a:r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U</a:t>
            </a:r>
            <a:r>
              <a:rPr lang="en-US" b="1" dirty="0">
                <a:latin typeface="Helvetica" pitchFamily="2" charset="0"/>
              </a:rPr>
              <a:t>D continue…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4F2D0-3B74-44B3-B438-DF4D1610C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825625"/>
            <a:ext cx="11645900" cy="4351338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Helvetica" pitchFamily="2" charset="0"/>
              </a:rPr>
              <a:t>UPDATE</a:t>
            </a:r>
          </a:p>
          <a:p>
            <a:r>
              <a:rPr lang="en-US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updateOne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updateMany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dirty="0"/>
              <a:t>Operators: 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inc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push</a:t>
            </a:r>
          </a:p>
          <a:p>
            <a:r>
              <a:rPr lang="en-US" u="sng" dirty="0"/>
              <a:t>Example:</a:t>
            </a:r>
          </a:p>
          <a:p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i="1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updateOne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2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name:</a:t>
            </a:r>
            <a:r>
              <a:rPr lang="en-US" sz="2400" dirty="0" err="1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“Ahmad</a:t>
            </a:r>
            <a:r>
              <a:rPr lang="en-US" sz="2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2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GPA:3.7</a:t>
            </a:r>
            <a:r>
              <a:rPr lang="en-US" sz="2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PK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42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4A87-F86C-46D8-8A07-282E011C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CRU</a:t>
            </a:r>
            <a:r>
              <a:rPr lang="en-US" b="1" dirty="0">
                <a:solidFill>
                  <a:srgbClr val="FF0000"/>
                </a:solidFill>
                <a:latin typeface="Helvetica" pitchFamily="2" charset="0"/>
              </a:rPr>
              <a:t>D</a:t>
            </a:r>
            <a:r>
              <a:rPr lang="en-US" b="1" dirty="0">
                <a:latin typeface="Helvetica" pitchFamily="2" charset="0"/>
              </a:rPr>
              <a:t> continue…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CDC99-3CCB-4998-9378-3D99D2B5D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Helvetica" pitchFamily="2" charset="0"/>
              </a:rPr>
              <a:t>DELETE</a:t>
            </a:r>
          </a:p>
          <a:p>
            <a:r>
              <a:rPr lang="en-US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deleteOne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deleteMany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i="1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deleteMany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{GPA:{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le: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3.0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}}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8377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902A-3B99-4E92-97CB-09BE148C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Helvetica" pitchFamily="2" charset="0"/>
              </a:rPr>
              <a:t>Querying &amp; Operators</a:t>
            </a:r>
            <a:endParaRPr lang="en-PK" b="1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3753-0DE7-47E5-8F49-CDB6EF220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0900" cy="4351338"/>
          </a:xfrm>
        </p:spPr>
        <p:txBody>
          <a:bodyPr/>
          <a:lstStyle/>
          <a:p>
            <a:r>
              <a:rPr lang="en-US" b="1" dirty="0"/>
              <a:t>Comparison Operators: </a:t>
            </a:r>
          </a:p>
          <a:p>
            <a:pPr lvl="1"/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eq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gte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lte</a:t>
            </a:r>
            <a:endParaRPr lang="en-US" dirty="0">
              <a:solidFill>
                <a:srgbClr val="FFFF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b="1" dirty="0"/>
              <a:t>Logical Operators: </a:t>
            </a:r>
          </a:p>
          <a:p>
            <a:pPr lvl="1"/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nor</a:t>
            </a:r>
          </a:p>
          <a:p>
            <a:r>
              <a:rPr lang="en-US" b="1" dirty="0"/>
              <a:t>Array Operators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nin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</a:t>
            </a:r>
          </a:p>
          <a:p>
            <a:r>
              <a:rPr lang="en-US" b="1" dirty="0"/>
              <a:t>Sorting &amp; Limiting:</a:t>
            </a:r>
          </a:p>
          <a:p>
            <a:pPr lvl="1"/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db.students.</a:t>
            </a:r>
            <a:r>
              <a:rPr lang="en-US" i="1" dirty="0" err="1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n-US" i="1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({GPA: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-1/1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}).</a:t>
            </a:r>
            <a:r>
              <a:rPr lang="en-US" i="1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limit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(3).</a:t>
            </a:r>
            <a:r>
              <a:rPr lang="en-US" i="1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skip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78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75D4-34D2-46A8-BFA7-E41D1A45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Operators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D5717-2F62-4705-9AAE-3E84ABB54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eq</a:t>
            </a:r>
            <a:r>
              <a:rPr lang="en-US" dirty="0"/>
              <a:t>: Equal to (=)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</a:t>
            </a:r>
            <a:r>
              <a:rPr lang="en-US" dirty="0"/>
              <a:t>: Not equal to (!=)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gt</a:t>
            </a:r>
            <a:r>
              <a:rPr lang="en-US" dirty="0"/>
              <a:t>: Greater than (&gt;)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lt</a:t>
            </a:r>
            <a:r>
              <a:rPr lang="en-US" dirty="0"/>
              <a:t>: Less than (&lt;)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gte</a:t>
            </a:r>
            <a:r>
              <a:rPr lang="en-US" dirty="0"/>
              <a:t>: Greater than or equal (&gt;=)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 err="1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lte</a:t>
            </a:r>
            <a:r>
              <a:rPr lang="en-US" dirty="0"/>
              <a:t>: Less than or equal (&lt;=)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712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E314-B3F7-4E91-9D7C-35FD5A9F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Operators: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7A84-DC48-458A-9DCF-FF33DEF5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</a:t>
            </a:r>
            <a:r>
              <a:rPr lang="en-US" dirty="0"/>
              <a:t>: All conditions must be true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or</a:t>
            </a:r>
            <a:r>
              <a:rPr lang="en-US" dirty="0"/>
              <a:t>: At least one condition must be true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</a:t>
            </a:r>
            <a:r>
              <a:rPr lang="en-US" dirty="0"/>
              <a:t>: Invert the condition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nor</a:t>
            </a:r>
            <a:r>
              <a:rPr lang="en-US" dirty="0"/>
              <a:t>: Neither condition is true</a:t>
            </a:r>
          </a:p>
          <a:p>
            <a:endParaRPr lang="en-US" dirty="0"/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i="1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[{</a:t>
            </a:r>
            <a:r>
              <a:rPr lang="en-US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condition1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lang="en-US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condition2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}] }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1304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E314-B3F7-4E91-9D7C-35FD5A9F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Helvetica" pitchFamily="2" charset="0"/>
                <a:cs typeface="Segoe UI" panose="020B0502040204020203" pitchFamily="34" charset="0"/>
              </a:rPr>
              <a:t>DATA VALIDATION &amp; CONSISTENCY</a:t>
            </a:r>
            <a:endParaRPr lang="en-PK" sz="3600" b="1" dirty="0">
              <a:latin typeface="Helvetica" pitchFamily="2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7A84-DC48-458A-9DCF-FF33DEF5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 that enforce structure and content of documents in a collection.</a:t>
            </a:r>
          </a:p>
          <a:p>
            <a:r>
              <a:rPr lang="en-US" b="1" dirty="0">
                <a:solidFill>
                  <a:srgbClr val="00B050"/>
                </a:solidFill>
              </a:rPr>
              <a:t>Why it matters:</a:t>
            </a:r>
          </a:p>
          <a:p>
            <a:pPr lvl="1"/>
            <a:r>
              <a:rPr lang="en-US" dirty="0"/>
              <a:t>Ensures data consistency</a:t>
            </a:r>
          </a:p>
          <a:p>
            <a:pPr lvl="1"/>
            <a:r>
              <a:rPr lang="en-US" dirty="0"/>
              <a:t>Prevents invalid data insertion</a:t>
            </a:r>
          </a:p>
          <a:p>
            <a:pPr lvl="1"/>
            <a:r>
              <a:rPr lang="en-US" dirty="0"/>
              <a:t>Maintains data quality</a:t>
            </a:r>
          </a:p>
          <a:p>
            <a:pPr lvl="1"/>
            <a:r>
              <a:rPr lang="en-US" dirty="0"/>
              <a:t>Similar to SQL table constraints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86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B6E9-434D-4B9D-9358-FA88CAB4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239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Helvetica" pitchFamily="2" charset="0"/>
                <a:cs typeface="Segoe UI" panose="020B0502040204020203" pitchFamily="34" charset="0"/>
              </a:rPr>
              <a:t>General Form</a:t>
            </a:r>
            <a:endParaRPr lang="en-PK" sz="3600" b="1" dirty="0">
              <a:latin typeface="Helvetica" pitchFamily="2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74A02-450E-46FE-AD5A-6CF8FCC9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 lnSpcReduction="10000"/>
          </a:bodyPr>
          <a:lstStyle/>
          <a:p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jsonSchema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"object"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required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"field1", "field2"</a:t>
            </a:r>
            <a:r>
              <a:rPr lang="en-US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properties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field1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field2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0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r>
              <a:rPr lang="en-US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}</a:t>
            </a:r>
          </a:p>
          <a:p>
            <a:r>
              <a:rPr lang="en-US" i="1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PK" i="1" dirty="0">
              <a:solidFill>
                <a:srgbClr val="09FF72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003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C072-1B3B-4A59-B755-A3B6691A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Validation with $</a:t>
            </a:r>
            <a:r>
              <a:rPr lang="en-US" b="1" dirty="0" err="1">
                <a:solidFill>
                  <a:srgbClr val="F9FAFB"/>
                </a:solidFill>
                <a:effectLst/>
                <a:latin typeface="quote-cjk-patch"/>
              </a:rPr>
              <a:t>jsonSchema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0102-F072-48E4-BEA0-A150DD6BF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9FF72"/>
                </a:solidFill>
              </a:rPr>
              <a:t>Key Components:</a:t>
            </a:r>
          </a:p>
          <a:p>
            <a:r>
              <a:rPr lang="en-US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bsonType</a:t>
            </a:r>
            <a:r>
              <a:rPr lang="en-US" dirty="0"/>
              <a:t>: Data type (object, array, string, int, etc.)</a:t>
            </a:r>
          </a:p>
          <a:p>
            <a:r>
              <a:rPr lang="en-US" i="1" dirty="0">
                <a:solidFill>
                  <a:srgbClr val="FFC000"/>
                </a:solidFill>
                <a:latin typeface="Consolas" panose="020B0609020204030204" pitchFamily="49" charset="0"/>
              </a:rPr>
              <a:t>required</a:t>
            </a:r>
            <a:r>
              <a:rPr lang="en-US" dirty="0"/>
              <a:t>: Array of mandatory field names</a:t>
            </a:r>
          </a:p>
          <a:p>
            <a:r>
              <a:rPr lang="en-US" i="1" dirty="0">
                <a:solidFill>
                  <a:srgbClr val="FFC000"/>
                </a:solidFill>
                <a:latin typeface="Consolas" panose="020B0609020204030204" pitchFamily="49" charset="0"/>
              </a:rPr>
              <a:t>properties</a:t>
            </a:r>
            <a:r>
              <a:rPr lang="en-US" dirty="0"/>
              <a:t>: Validation rules for each field</a:t>
            </a:r>
          </a:p>
          <a:p>
            <a:r>
              <a:rPr lang="en-US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additionalProperties</a:t>
            </a:r>
            <a:r>
              <a:rPr lang="en-US" dirty="0"/>
              <a:t>: Allow/disallow extra fields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0963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7307-59D4-43E4-8CED-F930B635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62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Helvetica" pitchFamily="2" charset="0"/>
              </a:rPr>
              <a:t>Validation Example</a:t>
            </a:r>
            <a:endParaRPr lang="en-PK" sz="3600" b="1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4F49C-0CD1-449F-B1BD-47D94B329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458097"/>
            <a:ext cx="11506200" cy="4718866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$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jsonSchema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object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required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[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"name", "age", "email"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properties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name: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age: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18,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30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email: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rgbClr val="22F6F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pattern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"^.+@.+\\..+$"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}</a:t>
            </a:r>
          </a:p>
          <a:p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PK" dirty="0">
              <a:solidFill>
                <a:srgbClr val="09FF72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01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DA0C-34C6-486B-8E37-1A644538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838" y="395415"/>
            <a:ext cx="10515600" cy="6376087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db.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createCollection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("students",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2900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validator: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sz="2900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  <a:r>
              <a:rPr lang="en-US" sz="2900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jsonSchema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sz="2900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sz="2900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"object",</a:t>
            </a:r>
          </a:p>
          <a:p>
            <a:r>
              <a:rPr lang="en-US" sz="2900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required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["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"],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sz="2900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properties: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 </a:t>
            </a:r>
            <a:r>
              <a:rPr lang="en-US" sz="2900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"string" },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 </a:t>
            </a:r>
            <a:r>
              <a:rPr lang="en-US" sz="2900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"int", </a:t>
            </a:r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18, </a:t>
            </a:r>
            <a:r>
              <a:rPr lang="en-US" sz="29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maximum: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30 },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lang="en-US" i="1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"string",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lang="en-US" sz="2900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pattern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"^.+@.+\\..+$"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},</a:t>
            </a:r>
          </a:p>
          <a:p>
            <a:r>
              <a:rPr lang="en-US" sz="2900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sz="2900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additionalProperties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false 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No extra fields allowed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},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2900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validationLevel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"strict",      </a:t>
            </a:r>
            <a:r>
              <a:rPr lang="en-US" sz="29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Apply to all inserts/updates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sz="2900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validationAction</a:t>
            </a:r>
            <a:r>
              <a:rPr lang="en-US" sz="2900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"error"       </a:t>
            </a:r>
            <a:r>
              <a:rPr lang="en-US" sz="29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Reject invalid documents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endParaRPr lang="en-PK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63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805D-C7AE-44A0-95CC-07AC1C66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225"/>
            <a:ext cx="10515600" cy="784053"/>
          </a:xfrm>
        </p:spPr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Modify Existing Validation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BA4F3-C007-4E7F-AAF5-C7FF0ACE3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108"/>
            <a:ext cx="10515600" cy="5518667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db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.runCommand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collMod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validatedStudents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validator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$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jsonSchema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Updated schema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"object",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required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["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age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department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en-US" dirty="0" err="1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enrollmentYear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"],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</a:t>
            </a:r>
            <a:r>
              <a:rPr lang="en-US" i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properties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New or updated properties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US" dirty="0" err="1">
                <a:solidFill>
                  <a:srgbClr val="09FF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enrollmentYear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bsonType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lang="en-US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2020,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lang="en-US" i="1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maximum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2024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}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},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validationLevel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moderate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Change level (“strict”, “off”)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en-US" i="1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validationAction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lang="en-US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warn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    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Change action (“error”)</a:t>
            </a:r>
          </a:p>
          <a:p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endParaRPr lang="en-PK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59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C044-003D-4FBB-BEBF-3D1171AF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C16C-596D-4A9F-9121-82FC17205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$</a:t>
            </a:r>
            <a:r>
              <a:rPr lang="en-US" dirty="0" err="1"/>
              <a:t>jsonSchema</a:t>
            </a:r>
            <a:r>
              <a:rPr lang="en-US" dirty="0"/>
              <a:t> - Standard validation format</a:t>
            </a:r>
          </a:p>
          <a:p>
            <a:r>
              <a:rPr lang="en-US" dirty="0" err="1"/>
              <a:t>bsonType</a:t>
            </a:r>
            <a:r>
              <a:rPr lang="en-US" dirty="0"/>
              <a:t> - Data type validation</a:t>
            </a:r>
          </a:p>
          <a:p>
            <a:r>
              <a:rPr lang="en-US" dirty="0"/>
              <a:t>required - Mandatory fields</a:t>
            </a:r>
          </a:p>
          <a:p>
            <a:r>
              <a:rPr lang="en-US" dirty="0"/>
              <a:t>properties - Field-specific rules</a:t>
            </a:r>
          </a:p>
          <a:p>
            <a:r>
              <a:rPr lang="en-US" dirty="0" err="1"/>
              <a:t>additionalProperties</a:t>
            </a:r>
            <a:r>
              <a:rPr lang="en-US" dirty="0"/>
              <a:t> - Control extra fields</a:t>
            </a:r>
          </a:p>
        </p:txBody>
      </p:sp>
    </p:spTree>
    <p:extLst>
      <p:ext uri="{BB962C8B-B14F-4D97-AF65-F5344CB8AC3E}">
        <p14:creationId xmlns:p14="http://schemas.microsoft.com/office/powerpoint/2010/main" val="108049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34C8-B62E-44E9-A333-336C47B0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Validation Rules: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CF36-9DB1-4D53-9E63-7633AC090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Types: string, int, double, bool, date, array, object</a:t>
            </a:r>
          </a:p>
          <a:p>
            <a:r>
              <a:rPr lang="en-US" dirty="0"/>
              <a:t>: minimum, maximum</a:t>
            </a:r>
          </a:p>
          <a:p>
            <a:r>
              <a:rPr lang="en-US" dirty="0"/>
              <a:t>String Constraints: </a:t>
            </a:r>
            <a:r>
              <a:rPr lang="en-US" dirty="0" err="1"/>
              <a:t>pNumeric</a:t>
            </a:r>
            <a:r>
              <a:rPr lang="en-US" dirty="0"/>
              <a:t> </a:t>
            </a:r>
            <a:r>
              <a:rPr lang="en-US" dirty="0" err="1"/>
              <a:t>Constraintsattern</a:t>
            </a:r>
            <a:r>
              <a:rPr lang="en-US" dirty="0"/>
              <a:t> (regex), </a:t>
            </a:r>
            <a:r>
              <a:rPr lang="en-US" dirty="0" err="1"/>
              <a:t>minLength</a:t>
            </a:r>
            <a:r>
              <a:rPr lang="en-US" dirty="0"/>
              <a:t>, </a:t>
            </a:r>
            <a:r>
              <a:rPr lang="en-US" dirty="0" err="1"/>
              <a:t>maxLength</a:t>
            </a:r>
            <a:endParaRPr lang="en-US" dirty="0"/>
          </a:p>
          <a:p>
            <a:r>
              <a:rPr lang="en-US" dirty="0"/>
              <a:t>Fixed Values: </a:t>
            </a:r>
            <a:r>
              <a:rPr lang="en-US" dirty="0" err="1"/>
              <a:t>enum</a:t>
            </a:r>
            <a:r>
              <a:rPr lang="en-US" dirty="0"/>
              <a:t> array</a:t>
            </a:r>
          </a:p>
          <a:p>
            <a:r>
              <a:rPr lang="en-US" dirty="0"/>
              <a:t>Array Constraints: </a:t>
            </a:r>
            <a:r>
              <a:rPr lang="en-US" dirty="0" err="1"/>
              <a:t>maxItems</a:t>
            </a:r>
            <a:r>
              <a:rPr lang="en-US" dirty="0"/>
              <a:t>, </a:t>
            </a:r>
            <a:r>
              <a:rPr lang="en-US" dirty="0" err="1"/>
              <a:t>minItems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342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9DD2-72F0-43D6-AB87-3C08A9C0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Options: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4C2EF-9664-4584-8D23-B41CC2C82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validationLevel</a:t>
            </a:r>
            <a:r>
              <a:rPr lang="en-US" dirty="0"/>
              <a:t>: "strict" | "moderate" | "off"</a:t>
            </a:r>
          </a:p>
          <a:p>
            <a:r>
              <a:rPr lang="en-US" dirty="0" err="1"/>
              <a:t>validationAction</a:t>
            </a:r>
            <a:r>
              <a:rPr lang="en-US" dirty="0"/>
              <a:t>: "error" | "warn"</a:t>
            </a:r>
          </a:p>
          <a:p>
            <a:r>
              <a:rPr lang="en-US" dirty="0"/>
              <a:t>Best Practices:</a:t>
            </a:r>
          </a:p>
          <a:p>
            <a:r>
              <a:rPr lang="en-US" dirty="0"/>
              <a:t>Start with strict validation in development</a:t>
            </a:r>
          </a:p>
          <a:p>
            <a:r>
              <a:rPr lang="en-US" dirty="0"/>
              <a:t>Use meaningful error descriptions</a:t>
            </a:r>
          </a:p>
          <a:p>
            <a:r>
              <a:rPr lang="en-US" dirty="0"/>
              <a:t>Test validation rules thoroughly</a:t>
            </a:r>
          </a:p>
          <a:p>
            <a:r>
              <a:rPr lang="en-US" dirty="0"/>
              <a:t>Consider using "warn" mode during migration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07718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805D-C7AE-44A0-95CC-07AC1C66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225"/>
            <a:ext cx="10515600" cy="64907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All Data Types in MongoDB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BA4F3-C007-4E7F-AAF5-C7FF0ACE3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300"/>
            <a:ext cx="10642600" cy="5867400"/>
          </a:xfrm>
        </p:spPr>
        <p:txBody>
          <a:bodyPr>
            <a:normAutofit fontScale="47500" lnSpcReduction="20000"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"name"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"Salman"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"age"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22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cgpa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3.52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fullTime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hireDate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{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"$date"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"2026-01-10T04:39:04.916Z"</a:t>
            </a:r>
            <a:endParaRPr lang="en-US" b="0" dirty="0">
              <a:solidFill>
                <a:srgbClr val="CCCCCC"/>
              </a:solidFill>
              <a:effectLst/>
              <a:latin typeface="JetBrains Mono" panose="02000009000000000000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},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graduationDate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null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"courses"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[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"Artificial Intelligence"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"Advance Python"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"DBMS"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"Digital Marketing"</a:t>
            </a:r>
            <a:endParaRPr lang="en-US" b="0" dirty="0">
              <a:solidFill>
                <a:srgbClr val="CCCCCC"/>
              </a:solidFill>
              <a:effectLst/>
              <a:latin typeface="JetBrains Mono" panose="02000009000000000000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],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"Address"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{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"street"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"23 Colony </a:t>
            </a:r>
            <a:r>
              <a:rPr lang="en-US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st.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"city"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"Peshawar"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"country"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"Pakistan"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zipCode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1540</a:t>
            </a:r>
            <a:endParaRPr lang="en-US" b="0" dirty="0">
              <a:solidFill>
                <a:srgbClr val="CCCCCC"/>
              </a:solidFill>
              <a:effectLst/>
              <a:latin typeface="JetBrains Mono" panose="02000009000000000000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8132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FF54-30CE-44E5-BF0F-2671CC416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7312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800" b="1" dirty="0">
                <a:latin typeface="Helvetica" pitchFamily="2" charset="0"/>
              </a:rPr>
              <a:t>Thank You</a:t>
            </a:r>
            <a:endParaRPr lang="en-PK" sz="68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413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</TotalTime>
  <Words>1159</Words>
  <Application>Microsoft Office PowerPoint</Application>
  <PresentationFormat>Widescreen</PresentationFormat>
  <Paragraphs>195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Helvetica</vt:lpstr>
      <vt:lpstr>JetBrains Mono</vt:lpstr>
      <vt:lpstr>quote-cjk-patch</vt:lpstr>
      <vt:lpstr>Office Theme</vt:lpstr>
      <vt:lpstr>Introduction to MongoDB</vt:lpstr>
      <vt:lpstr>What is MongoDB?</vt:lpstr>
      <vt:lpstr>JSON</vt:lpstr>
      <vt:lpstr>Basic commands</vt:lpstr>
      <vt:lpstr>CRUD Operations</vt:lpstr>
      <vt:lpstr>CRUD continue…</vt:lpstr>
      <vt:lpstr>CRUD continue…</vt:lpstr>
      <vt:lpstr>CRUD continue…</vt:lpstr>
      <vt:lpstr>Querying &amp; Operators</vt:lpstr>
      <vt:lpstr>Common Operators</vt:lpstr>
      <vt:lpstr>Common Operators:</vt:lpstr>
      <vt:lpstr>DATA VALIDATION &amp; CONSISTENCY</vt:lpstr>
      <vt:lpstr>General Form</vt:lpstr>
      <vt:lpstr>Validation with $jsonSchema</vt:lpstr>
      <vt:lpstr>Validation Example</vt:lpstr>
      <vt:lpstr>PowerPoint Presentation</vt:lpstr>
      <vt:lpstr>Modify Existing Validation</vt:lpstr>
      <vt:lpstr>Key Components:</vt:lpstr>
      <vt:lpstr>Common Validation Rules:</vt:lpstr>
      <vt:lpstr>Collection Options:</vt:lpstr>
      <vt:lpstr>All Data Types in MongoDB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MongoDB</dc:title>
  <dc:creator>Professor M Salman</dc:creator>
  <cp:lastModifiedBy>Professor M Salman</cp:lastModifiedBy>
  <cp:revision>8</cp:revision>
  <dcterms:created xsi:type="dcterms:W3CDTF">2025-12-14T20:13:53Z</dcterms:created>
  <dcterms:modified xsi:type="dcterms:W3CDTF">2026-01-10T05:09:52Z</dcterms:modified>
</cp:coreProperties>
</file>